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2194560" cy="822960"/>
          </a:xfrm>
          <a:prstGeom prst="rect">
            <a:avLst/>
          </a:prstGeom>
          <a:solidFill>
            <a:srgbClr val="00693E"/>
          </a:solidFill>
          <a:ln w="1905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81C"/>
                </a:solidFill>
                <a:latin typeface="Calibri"/>
              </a:rPr>
              <a:t>AGRIWATT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Suivi PDP — Module ICP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B81C"/>
                </a:solidFill>
                <a:latin typeface="Calibri"/>
              </a:rPr>
              <a:t>L'Inspection Commune Préalable au service de vos visites préventives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Formation équipes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11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T. HOCEDEZ — Responsable QSE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Pourquoi cet outil pour vos visites préventives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2000" b="1">
                <a:solidFill>
                  <a:srgbClr val="00693E"/>
                </a:solidFill>
                <a:latin typeface="Calibri"/>
              </a:rPr>
              <a:t>Simple et rapide</a:t>
            </a:r>
          </a:p>
          <a:p>
            <a:pPr algn="l">
              <a:lnSpc>
                <a:spcPct val="110000"/>
              </a:lnSpc>
            </a:pPr>
            <a:r>
              <a:rPr sz="1500">
                <a:solidFill>
                  <a:srgbClr val="222222"/>
                </a:solidFill>
                <a:latin typeface="Calibri"/>
              </a:rPr>
              <a:t>Mode Express dédié aux visites simples : seuls les champs utiles s'affichent. Une inspection tracée en quelques minutes, depuis le terrain.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2000" b="1">
                <a:solidFill>
                  <a:srgbClr val="00693E"/>
                </a:solidFill>
                <a:latin typeface="Calibri"/>
              </a:rPr>
              <a:t>Conformité</a:t>
            </a:r>
          </a:p>
          <a:p>
            <a:pPr algn="l">
              <a:lnSpc>
                <a:spcPct val="110000"/>
              </a:lnSpc>
            </a:pPr>
            <a:r>
              <a:rPr sz="1500">
                <a:solidFill>
                  <a:srgbClr val="222222"/>
                </a:solidFill>
                <a:latin typeface="Calibri"/>
              </a:rPr>
              <a:t>Inspection commune des lieux conforme au Code du travail (art. R4512-2 et suivants). Compte-rendu signé = preuve de la reconnaissance des risques.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4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2000" b="1">
                <a:solidFill>
                  <a:srgbClr val="00693E"/>
                </a:solidFill>
                <a:latin typeface="Calibri"/>
              </a:rPr>
              <a:t>Mobilité terrain</a:t>
            </a:r>
          </a:p>
          <a:p>
            <a:pPr algn="l">
              <a:lnSpc>
                <a:spcPct val="110000"/>
              </a:lnSpc>
            </a:pPr>
            <a:r>
              <a:rPr sz="1500">
                <a:solidFill>
                  <a:srgbClr val="222222"/>
                </a:solidFill>
                <a:latin typeface="Calibri"/>
              </a:rPr>
              <a:t>Application installée sur smartphone / tablette. 100 % hors-ligne, photos natives, GPS automatique, signature tactile sur site.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4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2000" b="1">
                <a:solidFill>
                  <a:srgbClr val="00693E"/>
                </a:solidFill>
                <a:latin typeface="Calibri"/>
              </a:rPr>
              <a:t>Traçabilité</a:t>
            </a:r>
          </a:p>
          <a:p>
            <a:pPr algn="l">
              <a:lnSpc>
                <a:spcPct val="110000"/>
              </a:lnSpc>
            </a:pPr>
            <a:r>
              <a:rPr sz="1500">
                <a:solidFill>
                  <a:srgbClr val="222222"/>
                </a:solidFill>
                <a:latin typeface="Calibri"/>
              </a:rPr>
              <a:t>Historique complet, archivage automatique à la validation, export PDF / Word, synchronisation SharePoint partagée.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Qu'est-ce qu'une ICP 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0693E"/>
                </a:solidFill>
                <a:latin typeface="Calibri"/>
              </a:rPr>
              <a:t>Inspection Commune Préalable — Code du travail, art. R4512-2 à R4512-5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693E"/>
                </a:solidFill>
                <a:latin typeface="Calibri"/>
              </a:rPr>
              <a:t>▸  </a:t>
            </a:r>
            <a:r>
              <a:rPr sz="1700">
                <a:solidFill>
                  <a:srgbClr val="222222"/>
                </a:solidFill>
                <a:latin typeface="Calibri"/>
              </a:rPr>
              <a:t>Visite des lieux réalisée AVANT l'intervention, en commun avec le site (entreprise utilisatrice).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693E"/>
                </a:solidFill>
                <a:latin typeface="Calibri"/>
              </a:rPr>
              <a:t>▸  </a:t>
            </a:r>
            <a:r>
              <a:rPr sz="1700">
                <a:solidFill>
                  <a:srgbClr val="222222"/>
                </a:solidFill>
                <a:latin typeface="Calibri"/>
              </a:rPr>
              <a:t>Objet : reconnaître les lieux, délimiter la zone, identifier les risques d'interférences (co-activité).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693E"/>
                </a:solidFill>
                <a:latin typeface="Calibri"/>
              </a:rPr>
              <a:t>▸  </a:t>
            </a:r>
            <a:r>
              <a:rPr sz="1700">
                <a:solidFill>
                  <a:srgbClr val="222222"/>
                </a:solidFill>
                <a:latin typeface="Calibri"/>
              </a:rPr>
              <a:t>Pour la maintenance préventive : un point d'entrée systématique avant chaque visite à risque.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693E"/>
                </a:solidFill>
                <a:latin typeface="Calibri"/>
              </a:rPr>
              <a:t>▸  </a:t>
            </a:r>
            <a:r>
              <a:rPr sz="1700">
                <a:solidFill>
                  <a:srgbClr val="222222"/>
                </a:solidFill>
                <a:latin typeface="Calibri"/>
              </a:rPr>
              <a:t>On définit ensemble : accès, circulation, consignes de sécurité, mesures de prévention.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693E"/>
                </a:solidFill>
                <a:latin typeface="Calibri"/>
              </a:rPr>
              <a:t>▸  </a:t>
            </a:r>
            <a:r>
              <a:rPr sz="1700">
                <a:solidFill>
                  <a:srgbClr val="222222"/>
                </a:solidFill>
                <a:latin typeface="Calibri"/>
              </a:rPr>
              <a:t>Tracée par un compte-rendu daté et signé — c'est exactement l'ICP de l'application.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394960"/>
            <a:ext cx="11064240" cy="5029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693E"/>
                </a:solidFill>
                <a:latin typeface="Calibri"/>
              </a:rPr>
              <a:t>Reconnaître les lieux et les risques AVANT d'intervenir — et le prouver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 parcours d'une ICP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Cinq étapes, un seul outil, sans rupture — du terrain à l'archivage.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60320"/>
            <a:ext cx="1874519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00693E"/>
                </a:solidFill>
                <a:latin typeface="Calibri"/>
              </a:rPr>
              <a:t>1. Créer</a:t>
            </a:r>
          </a:p>
          <a:p>
            <a:pPr algn="ctr"/>
            <a:r>
              <a:rPr sz="1100">
                <a:solidFill>
                  <a:srgbClr val="222222"/>
                </a:solidFill>
                <a:latin typeface="Calibri"/>
              </a:rPr>
              <a:t>Sellsy (OPP)
ou manuel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95727" y="3383280"/>
            <a:ext cx="409195" cy="182880"/>
          </a:xfrm>
          <a:prstGeom prst="rightArrow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23210" y="2560320"/>
            <a:ext cx="1874519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00693E"/>
                </a:solidFill>
                <a:latin typeface="Calibri"/>
              </a:rPr>
              <a:t>2. Reconnaître</a:t>
            </a:r>
          </a:p>
          <a:p>
            <a:pPr algn="ctr"/>
            <a:r>
              <a:rPr sz="1100">
                <a:solidFill>
                  <a:srgbClr val="222222"/>
                </a:solidFill>
                <a:latin typeface="Calibri"/>
              </a:rPr>
              <a:t>Lieux, accès,
consignes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16017" y="3383280"/>
            <a:ext cx="409195" cy="182880"/>
          </a:xfrm>
          <a:prstGeom prst="rightArrow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43500" y="2560320"/>
            <a:ext cx="1874519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00693E"/>
                </a:solidFill>
                <a:latin typeface="Calibri"/>
              </a:rPr>
              <a:t>3. Risques</a:t>
            </a:r>
          </a:p>
          <a:p>
            <a:pPr algn="ctr"/>
            <a:r>
              <a:rPr sz="1100">
                <a:solidFill>
                  <a:srgbClr val="222222"/>
                </a:solidFill>
                <a:latin typeface="Calibri"/>
              </a:rPr>
              <a:t>Interférences
+ photos + GPS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36307" y="3383280"/>
            <a:ext cx="409195" cy="182880"/>
          </a:xfrm>
          <a:prstGeom prst="rightArrow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63790" y="2560320"/>
            <a:ext cx="1874519" cy="1828800"/>
          </a:xfrm>
          <a:prstGeom prst="roundRect">
            <a:avLst/>
          </a:prstGeom>
          <a:solidFill>
            <a:srgbClr val="FFF7E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B81C"/>
                </a:solidFill>
                <a:latin typeface="Calibri"/>
              </a:rPr>
              <a:t>4. Signatures</a:t>
            </a:r>
          </a:p>
          <a:p>
            <a:pPr algn="ctr"/>
            <a:r>
              <a:rPr sz="1100">
                <a:solidFill>
                  <a:srgbClr val="222222"/>
                </a:solidFill>
                <a:latin typeface="Calibri"/>
              </a:rPr>
              <a:t>Site + intervenant
(tactile)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56597" y="3383280"/>
            <a:ext cx="409195" cy="182880"/>
          </a:xfrm>
          <a:prstGeom prst="rightArrow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4081" y="2560320"/>
            <a:ext cx="1874519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00693E"/>
                </a:solidFill>
                <a:latin typeface="Calibri"/>
              </a:rPr>
              <a:t>5. Archivage</a:t>
            </a:r>
          </a:p>
          <a:p>
            <a:pPr algn="ctr"/>
            <a:r>
              <a:rPr sz="1100">
                <a:solidFill>
                  <a:srgbClr val="222222"/>
                </a:solidFill>
                <a:latin typeface="Calibri"/>
              </a:rPr>
              <a:t>Export PDF/Word
+ SharePoint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693E"/>
                </a:solidFill>
                <a:latin typeface="Calibri"/>
              </a:rPr>
              <a:t>Cycle de vie d'une ICP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Effectuée  →  Validée  →  Archivée automatiquement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Deux façons de démarrer une ICP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693E"/>
                </a:solidFill>
                <a:latin typeface="Calibri"/>
              </a:rPr>
              <a:t>Avec Sellsy (n° OPP)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693E"/>
                </a:solidFill>
                <a:latin typeface="Calibri"/>
              </a:rPr>
              <a:t>▸  </a:t>
            </a:r>
            <a:r>
              <a:rPr sz="1400">
                <a:solidFill>
                  <a:srgbClr val="222222"/>
                </a:solidFill>
                <a:latin typeface="Calibri"/>
              </a:rPr>
              <a:t>Quand la visite est rattachée à un dossier Sellsy.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693E"/>
                </a:solidFill>
                <a:latin typeface="Calibri"/>
              </a:rPr>
              <a:t>▸  </a:t>
            </a:r>
            <a:r>
              <a:rPr sz="1400">
                <a:solidFill>
                  <a:srgbClr val="222222"/>
                </a:solidFill>
                <a:latin typeface="Calibri"/>
              </a:rPr>
              <a:t>Taper le n° OPP, cliquer sur la loupe.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693E"/>
                </a:solidFill>
                <a:latin typeface="Calibri"/>
              </a:rPr>
              <a:t>▸  </a:t>
            </a:r>
            <a:r>
              <a:rPr sz="1400">
                <a:solidFill>
                  <a:srgbClr val="222222"/>
                </a:solidFill>
                <a:latin typeface="Calibri"/>
              </a:rPr>
              <a:t>Client, adresse, GPS et contact pré-remplis.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693E"/>
                </a:solidFill>
                <a:latin typeface="Calibri"/>
              </a:rPr>
              <a:t>▸  </a:t>
            </a:r>
            <a:r>
              <a:rPr sz="1400">
                <a:solidFill>
                  <a:srgbClr val="222222"/>
                </a:solidFill>
                <a:latin typeface="Calibri"/>
              </a:rPr>
              <a:t>Zéro recopie, zéro faute de frappe.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B81C"/>
                </a:solidFill>
                <a:latin typeface="Calibri"/>
              </a:rPr>
              <a:t>Création manuelle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486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▸  </a:t>
            </a:r>
            <a:r>
              <a:rPr sz="1400">
                <a:solidFill>
                  <a:srgbClr val="222222"/>
                </a:solidFill>
                <a:latin typeface="Calibri"/>
              </a:rPr>
              <a:t>Quand il n'y a pas de dossier Sellsy (visite interne).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▸  </a:t>
            </a:r>
            <a:r>
              <a:rPr sz="1400">
                <a:solidFill>
                  <a:srgbClr val="222222"/>
                </a:solidFill>
                <a:latin typeface="Calibri"/>
              </a:rPr>
              <a:t>Saisir directement le site, l'adresse, le contact.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▸  </a:t>
            </a:r>
            <a:r>
              <a:rPr sz="1400">
                <a:solidFill>
                  <a:srgbClr val="222222"/>
                </a:solidFill>
                <a:latin typeface="Calibri"/>
              </a:rPr>
              <a:t>Géocodage de l'adresse → GPS en 1 clic.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▸  </a:t>
            </a:r>
            <a:r>
              <a:rPr sz="1400">
                <a:solidFill>
                  <a:srgbClr val="222222"/>
                </a:solidFill>
                <a:latin typeface="Calibri"/>
              </a:rPr>
              <a:t>Idéal combiné au Mode Express (slide suivante).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5555" y="1922859"/>
            <a:ext cx="5368290" cy="3195161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14_sellsy_resul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32384"/>
            <a:ext cx="5349240" cy="31761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Mode Express vs ICP complète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Un simple interrupteur en haut de l'ICP. Choisissez selon la complexité de la visite.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4023360"/>
          </a:xfrm>
          <a:prstGeom prst="roundRect">
            <a:avLst/>
          </a:prstGeom>
          <a:solidFill>
            <a:srgbClr val="FFF7E0"/>
          </a:solidFill>
          <a:ln w="1905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700" b="1">
                <a:solidFill>
                  <a:srgbClr val="FFB81C"/>
                </a:solidFill>
                <a:latin typeface="Calibri"/>
              </a:rPr>
              <a:t>⚡ Mode Express  —  recommandé maintenance</a:t>
            </a:r>
          </a:p>
          <a:p>
            <a:pPr algn="l">
              <a:lnSpc>
                <a:spcPct val="110000"/>
              </a:lnSpc>
            </a:pPr>
            <a:r>
              <a:rPr sz="1400">
                <a:solidFill>
                  <a:srgbClr val="222222"/>
                </a:solidFill>
                <a:latin typeface="Calibri"/>
              </a:rPr>
              <a:t>Masque les sections avancées pour aller à l'essentiel :
• Site, contact, date de visite
• Délimitation / circulation / consignes
• Risques d'interférences
• Photos + GPS
• Signatures site + intervenant
Idéal pour une visite préventive simple, un seul intervenant.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4864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700" b="1">
                <a:solidFill>
                  <a:srgbClr val="00693E"/>
                </a:solidFill>
                <a:latin typeface="Calibri"/>
              </a:rPr>
              <a:t>ICP complète</a:t>
            </a:r>
          </a:p>
          <a:p>
            <a:pPr algn="l">
              <a:lnSpc>
                <a:spcPct val="110000"/>
              </a:lnSpc>
            </a:pPr>
            <a:r>
              <a:rPr sz="1400">
                <a:solidFill>
                  <a:srgbClr val="222222"/>
                </a:solidFill>
                <a:latin typeface="Calibri"/>
              </a:rPr>
              <a:t>Affiche en plus les sections de co-activité :
• Autres intervenants / sous-traitants (EE)
• Participants additionnels
• Signatures de chaque intervenant supplémentaire
À utiliser quand plusieurs entreprises interviennent en même temps sur la même zone.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Le Mode Express se mémorise : activez-le une fois, il reste actif pour vos prochaines visites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Étape 1 — Créer l'ICP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Menu : Nouveau → ICP.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Activer le Mode Express pour une visite simple.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Renseigner le site et le contact (via Sellsy ou manuellement).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Date de visite et représentant côté site.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Représentant côté intervenant (vous / l'équipe maintenance).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Géocodage de l'adresse vers coordonnées GPS.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91275" y="1936432"/>
            <a:ext cx="5322570" cy="3168015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07_icp_nouvelle_recherche_sell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45957"/>
            <a:ext cx="5303520" cy="31489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Étape 2 — Délimitation, circulation &amp; consignes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Points obligatoires de l'inspection commune (art. R4512-3 &amp; R4512-4) — à cocher sur 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532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500" b="1">
                <a:solidFill>
                  <a:srgbClr val="00693E"/>
                </a:solidFill>
                <a:latin typeface="Calibri"/>
              </a:rPr>
              <a:t>Secteur délimité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Zone d'intervention clairement identifiée.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532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500" b="1">
                <a:solidFill>
                  <a:srgbClr val="00693E"/>
                </a:solidFill>
                <a:latin typeface="Calibri"/>
              </a:rPr>
              <a:t>Zones de danger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Dangers matérialisés et signalés.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5532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500" b="1">
                <a:solidFill>
                  <a:srgbClr val="00693E"/>
                </a:solidFill>
                <a:latin typeface="Calibri"/>
              </a:rPr>
              <a:t>Circulation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Voies piétons et engins indiquées.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81528"/>
            <a:ext cx="5532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500" b="1">
                <a:solidFill>
                  <a:srgbClr val="00693E"/>
                </a:solidFill>
                <a:latin typeface="Calibri"/>
              </a:rPr>
              <a:t>Voies d'accès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Accès au poste de travail définis.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25696"/>
            <a:ext cx="5532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500" b="1">
                <a:solidFill>
                  <a:srgbClr val="00693E"/>
                </a:solidFill>
                <a:latin typeface="Calibri"/>
              </a:rPr>
              <a:t>Consignes sécurité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Consignes du site communiquées à l'équipe.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25696"/>
            <a:ext cx="5532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500" b="1">
                <a:solidFill>
                  <a:srgbClr val="00693E"/>
                </a:solidFill>
                <a:latin typeface="Calibri"/>
              </a:rPr>
              <a:t>Précisions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Champ libre pour toute remarque utile.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Chaque point coché trace ce qui a été vérifié et abordé avec le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Étape 3 — Identifier les risques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577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693E"/>
                </a:solidFill>
                <a:latin typeface="Calibri"/>
              </a:rPr>
              <a:t>Catalogue de risques par catégories — cases à cocher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57784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Électrique — contact direct/indirect, arc, HT/BT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Chute — hauteur, plain-pied, fouille, toiture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Thermique — brûlure, point chaud, gel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Chimique — produits dangereux, FDS, ATEX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Machine / outil — coupure, écrasement, bruit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Co-activité — engins, charges suspendues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45555" y="1785699"/>
            <a:ext cx="5368290" cy="3195161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08_risques_mes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95224"/>
            <a:ext cx="5349240" cy="31761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Pour chaque risque : niveau de gravité  •  mesures de prévention  •  qui agit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Étape 4 — Photos &amp; GPS terrain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Photos prises directement avec l'appareil du smartphone / tablette.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Compression automatique, rattachées à l'ICP.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Annoter / légender chaque photo (zone, point de vigilance).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Coordonnées GPS du site capturées en 1 clic.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Tout reste disponible même sans réseau.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328" y="1087755"/>
            <a:ext cx="2258463" cy="486537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15_mobile_p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853" y="1097280"/>
            <a:ext cx="2239413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Étape 5 — Signatures de l'ICP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Canvas tactile : doigt sur smartphone, stylet sur tablette, souris sur PC.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Représentant du site (entreprise utilisatrice) : obligatoire.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Représentant intervenant (équipe maintenance).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Nom, fonction et date horodatée enregistrés automatiquement.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Boutons Effacer / Valider pour figer la signature.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En Mode Express : seules ces 2 signatures — pas de signataires supplémentaires.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91275" y="1936432"/>
            <a:ext cx="5322570" cy="3168015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09_icp_signatures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45957"/>
            <a:ext cx="5303520" cy="31489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Export et archivage de l'ICP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Export PDF — pour diffusion ou signature papier.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Export Word (DOCX) — si une retouche est nécessaire.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Passage en statut Validée = archivage automatique.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Dépôt SharePoint partagé, accessible à toute l'équipe.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693E"/>
                </a:solidFill>
                <a:latin typeface="Calibri"/>
              </a:rPr>
              <a:t>▸  </a:t>
            </a:r>
            <a:r>
              <a:rPr sz="1600">
                <a:solidFill>
                  <a:srgbClr val="222222"/>
                </a:solidFill>
                <a:latin typeface="Calibri"/>
              </a:rPr>
              <a:t>Nom de fichier standardisé pour la recherche ultérieure.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303520" cy="1828800"/>
          </a:xfrm>
          <a:prstGeom prst="roundRect">
            <a:avLst/>
          </a:prstGeom>
          <a:solidFill>
            <a:srgbClr val="F2F8F4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500" b="1">
                <a:solidFill>
                  <a:srgbClr val="00693E"/>
                </a:solidFill>
                <a:latin typeface="Calibri"/>
              </a:rPr>
              <a:t>Archivage automatique
</a:t>
            </a:r>
          </a:p>
          <a:p>
            <a:r>
              <a:rPr sz="1400" b="1">
                <a:solidFill>
                  <a:srgbClr val="222222"/>
                </a:solidFill>
                <a:latin typeface="Consolas"/>
              </a:rPr>
              <a:t>SuiviPDP/ICP/Exports/</a:t>
            </a:r>
          </a:p>
          <a:p>
            <a:r>
              <a:rPr sz="1200">
                <a:solidFill>
                  <a:srgbClr val="555555"/>
                </a:solidFill>
                <a:latin typeface="Calibri"/>
              </a:rPr>
              <a:t>
PDF + Word déposés dès la validation.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EEEEEE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Capture à insérer ]
vue ICP — boutons d'export PDF / 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Mobilité, aide &amp; amélioration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4864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800" b="1">
                <a:solidFill>
                  <a:srgbClr val="00693E"/>
                </a:solidFill>
                <a:latin typeface="Calibri"/>
              </a:rPr>
              <a:t>100 % hors-ligne</a:t>
            </a:r>
          </a:p>
          <a:p>
            <a:pPr algn="l">
              <a:lnSpc>
                <a:spcPct val="110000"/>
              </a:lnSpc>
            </a:pPr>
            <a:r>
              <a:rPr sz="1400">
                <a:solidFill>
                  <a:srgbClr val="222222"/>
                </a:solidFill>
                <a:latin typeface="Calibri"/>
              </a:rPr>
              <a:t>Tout est utilisable sans connexion ; synchro au retour du réseau.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80160"/>
            <a:ext cx="54864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800" b="1">
                <a:solidFill>
                  <a:srgbClr val="00693E"/>
                </a:solidFill>
                <a:latin typeface="Calibri"/>
              </a:rPr>
              <a:t>Installable</a:t>
            </a:r>
          </a:p>
          <a:p>
            <a:pPr algn="l">
              <a:lnSpc>
                <a:spcPct val="110000"/>
              </a:lnSpc>
            </a:pPr>
            <a:r>
              <a:rPr sz="1400">
                <a:solidFill>
                  <a:srgbClr val="222222"/>
                </a:solidFill>
                <a:latin typeface="Calibri"/>
              </a:rPr>
              <a:t>À ajouter sur l'écran d'accueil comme une vraie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54864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800" b="1">
                <a:solidFill>
                  <a:srgbClr val="00693E"/>
                </a:solidFill>
                <a:latin typeface="Calibri"/>
              </a:rPr>
              <a:t>Aide intégrée</a:t>
            </a:r>
          </a:p>
          <a:p>
            <a:pPr algn="l">
              <a:lnSpc>
                <a:spcPct val="110000"/>
              </a:lnSpc>
            </a:pPr>
            <a:r>
              <a:rPr sz="1400">
                <a:solidFill>
                  <a:srgbClr val="222222"/>
                </a:solidFill>
                <a:latin typeface="Calibri"/>
              </a:rPr>
              <a:t>Tutoriels consultables à tout moment depuis le menu.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154680"/>
            <a:ext cx="54864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800" b="1">
                <a:solidFill>
                  <a:srgbClr val="00693E"/>
                </a:solidFill>
                <a:latin typeface="Calibri"/>
              </a:rPr>
              <a:t>Évolue avec vous</a:t>
            </a:r>
          </a:p>
          <a:p>
            <a:pPr algn="l">
              <a:lnSpc>
                <a:spcPct val="110000"/>
              </a:lnSpc>
            </a:pPr>
            <a:r>
              <a:rPr sz="1400">
                <a:solidFill>
                  <a:srgbClr val="222222"/>
                </a:solidFill>
                <a:latin typeface="Calibri"/>
              </a:rPr>
              <a:t>Vos retours (corrections, idées) améliorent l'outil en continu.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93E"/>
                </a:solidFill>
                <a:latin typeface="Calibri"/>
              </a:rPr>
              <a:t>Un dysfonctionnement, une idée ? Remontez-le : l'appli s'améliore en permanence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Bonnes pratiques — À faire / À éviter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0693E"/>
                </a:solidFill>
                <a:latin typeface="Calibri"/>
              </a:rPr>
              <a:t>À 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Synchroniser en wifi AVANT de partir sur site.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Réaliser l'ICP avant l'intervention, pas après.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Prendre des photos systématiquement.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Faire signer le site et l'intervenant sur place.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693E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Activer le Mode Express pour les visites simples.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B00000"/>
                </a:solidFill>
                <a:latin typeface="Calibri"/>
              </a:rPr>
              <a:t>À ÉVITER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5778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00000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Intervenir sans inspection préalable des lieux.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B00000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Remplir l'ICP de mémoire, au bureau, après coup.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B00000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Oublier de faire signer le représentant du site.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B00000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Négliger la délimitation de zone et les consignes.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B00000"/>
                </a:solidFill>
                <a:latin typeface="Calibri"/>
              </a:rPr>
              <a:t>▸  </a:t>
            </a:r>
            <a:r>
              <a:rPr sz="1500">
                <a:solidFill>
                  <a:srgbClr val="222222"/>
                </a:solidFill>
                <a:latin typeface="Calibri"/>
              </a:rPr>
              <a:t>Laisser une ICP en brouillon sans la valider.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Suivi PDP — Module ICP — Maintenance — 11/06/2026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73152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Vos 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>
                <a:solidFill>
                  <a:srgbClr val="FFB81C"/>
                </a:solidFill>
                <a:latin typeface="Calibri"/>
              </a:rPr>
              <a:t>On prend l'appli en main ensemble — et à tout moment après la 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T. HOCEDEZ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Responsable QSE — AGRIWATT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FFB81C"/>
                </a:solidFill>
                <a:latin typeface="Calibri"/>
              </a:rPr>
              <a:t>Merci pour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